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93" d="100"/>
          <a:sy n="93" d="100"/>
        </p:scale>
        <p:origin x="1272" y="3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5EC60A-6686-2BDE-8A3C-67805F02378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AA6318D-44E1-9E7E-1452-561BF901A02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05F6966-9943-DEA8-0E6B-41F5339B65E3}"/>
              </a:ext>
            </a:extLst>
          </p:cNvPr>
          <p:cNvSpPr>
            <a:spLocks noGrp="1"/>
          </p:cNvSpPr>
          <p:nvPr>
            <p:ph type="dt" sz="half" idx="10"/>
          </p:nvPr>
        </p:nvSpPr>
        <p:spPr/>
        <p:txBody>
          <a:bodyPr/>
          <a:lstStyle/>
          <a:p>
            <a:fld id="{EE9B8F3C-6160-44D5-BD7F-ACE266FEFD97}" type="datetimeFigureOut">
              <a:rPr lang="en-US" smtClean="0"/>
              <a:t>4/18/2026</a:t>
            </a:fld>
            <a:endParaRPr lang="en-US"/>
          </a:p>
        </p:txBody>
      </p:sp>
      <p:sp>
        <p:nvSpPr>
          <p:cNvPr id="5" name="Footer Placeholder 4">
            <a:extLst>
              <a:ext uri="{FF2B5EF4-FFF2-40B4-BE49-F238E27FC236}">
                <a16:creationId xmlns:a16="http://schemas.microsoft.com/office/drawing/2014/main" id="{F3B364F3-AF84-975A-D043-A8A733EC383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0F6E24-041D-393B-9549-24E7D22A879E}"/>
              </a:ext>
            </a:extLst>
          </p:cNvPr>
          <p:cNvSpPr>
            <a:spLocks noGrp="1"/>
          </p:cNvSpPr>
          <p:nvPr>
            <p:ph type="sldNum" sz="quarter" idx="12"/>
          </p:nvPr>
        </p:nvSpPr>
        <p:spPr/>
        <p:txBody>
          <a:bodyPr/>
          <a:lstStyle/>
          <a:p>
            <a:fld id="{5EFD43E2-C2B3-40F9-83E8-2B202BDAE7AF}" type="slidenum">
              <a:rPr lang="en-US" smtClean="0"/>
              <a:t>‹#›</a:t>
            </a:fld>
            <a:endParaRPr lang="en-US"/>
          </a:p>
        </p:txBody>
      </p:sp>
    </p:spTree>
    <p:extLst>
      <p:ext uri="{BB962C8B-B14F-4D97-AF65-F5344CB8AC3E}">
        <p14:creationId xmlns:p14="http://schemas.microsoft.com/office/powerpoint/2010/main" val="376339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BDC79-314C-BA7E-2B16-E48E9743A82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9303DA-186E-9F83-0D0D-217696A0041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64273FA-789A-EE45-0D6B-981C52FCC7C3}"/>
              </a:ext>
            </a:extLst>
          </p:cNvPr>
          <p:cNvSpPr>
            <a:spLocks noGrp="1"/>
          </p:cNvSpPr>
          <p:nvPr>
            <p:ph type="dt" sz="half" idx="10"/>
          </p:nvPr>
        </p:nvSpPr>
        <p:spPr/>
        <p:txBody>
          <a:bodyPr/>
          <a:lstStyle/>
          <a:p>
            <a:fld id="{EE9B8F3C-6160-44D5-BD7F-ACE266FEFD97}" type="datetimeFigureOut">
              <a:rPr lang="en-US" smtClean="0"/>
              <a:t>4/18/2026</a:t>
            </a:fld>
            <a:endParaRPr lang="en-US"/>
          </a:p>
        </p:txBody>
      </p:sp>
      <p:sp>
        <p:nvSpPr>
          <p:cNvPr id="5" name="Footer Placeholder 4">
            <a:extLst>
              <a:ext uri="{FF2B5EF4-FFF2-40B4-BE49-F238E27FC236}">
                <a16:creationId xmlns:a16="http://schemas.microsoft.com/office/drawing/2014/main" id="{485CE3EA-E63F-2560-829E-DCD98D153B6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E42199-1F61-7655-30E1-B000E20401B1}"/>
              </a:ext>
            </a:extLst>
          </p:cNvPr>
          <p:cNvSpPr>
            <a:spLocks noGrp="1"/>
          </p:cNvSpPr>
          <p:nvPr>
            <p:ph type="sldNum" sz="quarter" idx="12"/>
          </p:nvPr>
        </p:nvSpPr>
        <p:spPr/>
        <p:txBody>
          <a:bodyPr/>
          <a:lstStyle/>
          <a:p>
            <a:fld id="{5EFD43E2-C2B3-40F9-83E8-2B202BDAE7AF}" type="slidenum">
              <a:rPr lang="en-US" smtClean="0"/>
              <a:t>‹#›</a:t>
            </a:fld>
            <a:endParaRPr lang="en-US"/>
          </a:p>
        </p:txBody>
      </p:sp>
    </p:spTree>
    <p:extLst>
      <p:ext uri="{BB962C8B-B14F-4D97-AF65-F5344CB8AC3E}">
        <p14:creationId xmlns:p14="http://schemas.microsoft.com/office/powerpoint/2010/main" val="10155622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93740-EF89-6D43-5140-BA070BE566A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43654BE-73E1-00C2-0988-4300ACE196C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3158279-C4EA-3EA2-BD11-AAB986A857F2}"/>
              </a:ext>
            </a:extLst>
          </p:cNvPr>
          <p:cNvSpPr>
            <a:spLocks noGrp="1"/>
          </p:cNvSpPr>
          <p:nvPr>
            <p:ph type="dt" sz="half" idx="10"/>
          </p:nvPr>
        </p:nvSpPr>
        <p:spPr/>
        <p:txBody>
          <a:bodyPr/>
          <a:lstStyle/>
          <a:p>
            <a:fld id="{EE9B8F3C-6160-44D5-BD7F-ACE266FEFD97}" type="datetimeFigureOut">
              <a:rPr lang="en-US" smtClean="0"/>
              <a:t>4/18/2026</a:t>
            </a:fld>
            <a:endParaRPr lang="en-US"/>
          </a:p>
        </p:txBody>
      </p:sp>
      <p:sp>
        <p:nvSpPr>
          <p:cNvPr id="5" name="Footer Placeholder 4">
            <a:extLst>
              <a:ext uri="{FF2B5EF4-FFF2-40B4-BE49-F238E27FC236}">
                <a16:creationId xmlns:a16="http://schemas.microsoft.com/office/drawing/2014/main" id="{5C36034A-EA1A-C139-FBFD-3B357536436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65E842-1426-8934-4E0E-57BF6995EE72}"/>
              </a:ext>
            </a:extLst>
          </p:cNvPr>
          <p:cNvSpPr>
            <a:spLocks noGrp="1"/>
          </p:cNvSpPr>
          <p:nvPr>
            <p:ph type="sldNum" sz="quarter" idx="12"/>
          </p:nvPr>
        </p:nvSpPr>
        <p:spPr/>
        <p:txBody>
          <a:bodyPr/>
          <a:lstStyle/>
          <a:p>
            <a:fld id="{5EFD43E2-C2B3-40F9-83E8-2B202BDAE7AF}" type="slidenum">
              <a:rPr lang="en-US" smtClean="0"/>
              <a:t>‹#›</a:t>
            </a:fld>
            <a:endParaRPr lang="en-US"/>
          </a:p>
        </p:txBody>
      </p:sp>
    </p:spTree>
    <p:extLst>
      <p:ext uri="{BB962C8B-B14F-4D97-AF65-F5344CB8AC3E}">
        <p14:creationId xmlns:p14="http://schemas.microsoft.com/office/powerpoint/2010/main" val="10994545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8120AA-0C02-ABB7-99C7-7944DC485F6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9A6C9F5-E26E-7947-6DFD-A97C946572B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F2EACDF-54BE-433F-5021-02128CFCCCC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C8DE910-0440-7F5A-76A2-D3CA1F08A82D}"/>
              </a:ext>
            </a:extLst>
          </p:cNvPr>
          <p:cNvSpPr>
            <a:spLocks noGrp="1"/>
          </p:cNvSpPr>
          <p:nvPr>
            <p:ph type="dt" sz="half" idx="10"/>
          </p:nvPr>
        </p:nvSpPr>
        <p:spPr/>
        <p:txBody>
          <a:bodyPr/>
          <a:lstStyle/>
          <a:p>
            <a:fld id="{EE9B8F3C-6160-44D5-BD7F-ACE266FEFD97}" type="datetimeFigureOut">
              <a:rPr lang="en-US" smtClean="0"/>
              <a:t>4/18/2026</a:t>
            </a:fld>
            <a:endParaRPr lang="en-US"/>
          </a:p>
        </p:txBody>
      </p:sp>
      <p:sp>
        <p:nvSpPr>
          <p:cNvPr id="6" name="Footer Placeholder 5">
            <a:extLst>
              <a:ext uri="{FF2B5EF4-FFF2-40B4-BE49-F238E27FC236}">
                <a16:creationId xmlns:a16="http://schemas.microsoft.com/office/drawing/2014/main" id="{A69139C5-1FF2-19F3-601E-6E7CF9F1319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DE85A3E-EE5C-F0A3-EDFE-CA4F87E26B0D}"/>
              </a:ext>
            </a:extLst>
          </p:cNvPr>
          <p:cNvSpPr>
            <a:spLocks noGrp="1"/>
          </p:cNvSpPr>
          <p:nvPr>
            <p:ph type="sldNum" sz="quarter" idx="12"/>
          </p:nvPr>
        </p:nvSpPr>
        <p:spPr/>
        <p:txBody>
          <a:bodyPr/>
          <a:lstStyle/>
          <a:p>
            <a:fld id="{5EFD43E2-C2B3-40F9-83E8-2B202BDAE7AF}" type="slidenum">
              <a:rPr lang="en-US" smtClean="0"/>
              <a:t>‹#›</a:t>
            </a:fld>
            <a:endParaRPr lang="en-US"/>
          </a:p>
        </p:txBody>
      </p:sp>
    </p:spTree>
    <p:extLst>
      <p:ext uri="{BB962C8B-B14F-4D97-AF65-F5344CB8AC3E}">
        <p14:creationId xmlns:p14="http://schemas.microsoft.com/office/powerpoint/2010/main" val="38161794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06297F-1AD3-B6C5-DDAF-68D1D9E6467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BE86D5C-6128-843C-3AE0-24D1BC68171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037B5E0-54F1-86C5-A5C2-10336A292ED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6F88924-520A-25C7-9951-0B88CDE962D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F3D8264-472B-5D94-0300-30DAABCE3A5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269E650-A6C3-FD7E-EC89-EDB1F72EB41E}"/>
              </a:ext>
            </a:extLst>
          </p:cNvPr>
          <p:cNvSpPr>
            <a:spLocks noGrp="1"/>
          </p:cNvSpPr>
          <p:nvPr>
            <p:ph type="dt" sz="half" idx="10"/>
          </p:nvPr>
        </p:nvSpPr>
        <p:spPr/>
        <p:txBody>
          <a:bodyPr/>
          <a:lstStyle/>
          <a:p>
            <a:fld id="{EE9B8F3C-6160-44D5-BD7F-ACE266FEFD97}" type="datetimeFigureOut">
              <a:rPr lang="en-US" smtClean="0"/>
              <a:t>4/18/2026</a:t>
            </a:fld>
            <a:endParaRPr lang="en-US"/>
          </a:p>
        </p:txBody>
      </p:sp>
      <p:sp>
        <p:nvSpPr>
          <p:cNvPr id="8" name="Footer Placeholder 7">
            <a:extLst>
              <a:ext uri="{FF2B5EF4-FFF2-40B4-BE49-F238E27FC236}">
                <a16:creationId xmlns:a16="http://schemas.microsoft.com/office/drawing/2014/main" id="{B332B38A-DBD2-EEC2-E676-346315D2161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D86D984-53BA-4A44-CF23-B3FA813D4044}"/>
              </a:ext>
            </a:extLst>
          </p:cNvPr>
          <p:cNvSpPr>
            <a:spLocks noGrp="1"/>
          </p:cNvSpPr>
          <p:nvPr>
            <p:ph type="sldNum" sz="quarter" idx="12"/>
          </p:nvPr>
        </p:nvSpPr>
        <p:spPr/>
        <p:txBody>
          <a:bodyPr/>
          <a:lstStyle/>
          <a:p>
            <a:fld id="{5EFD43E2-C2B3-40F9-83E8-2B202BDAE7AF}" type="slidenum">
              <a:rPr lang="en-US" smtClean="0"/>
              <a:t>‹#›</a:t>
            </a:fld>
            <a:endParaRPr lang="en-US"/>
          </a:p>
        </p:txBody>
      </p:sp>
    </p:spTree>
    <p:extLst>
      <p:ext uri="{BB962C8B-B14F-4D97-AF65-F5344CB8AC3E}">
        <p14:creationId xmlns:p14="http://schemas.microsoft.com/office/powerpoint/2010/main" val="14597845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7F9AC-57C2-FE90-A494-29C96E3803D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3C58E09-A9EE-2097-D099-A8C24B7F7627}"/>
              </a:ext>
            </a:extLst>
          </p:cNvPr>
          <p:cNvSpPr>
            <a:spLocks noGrp="1"/>
          </p:cNvSpPr>
          <p:nvPr>
            <p:ph type="dt" sz="half" idx="10"/>
          </p:nvPr>
        </p:nvSpPr>
        <p:spPr/>
        <p:txBody>
          <a:bodyPr/>
          <a:lstStyle/>
          <a:p>
            <a:fld id="{EE9B8F3C-6160-44D5-BD7F-ACE266FEFD97}" type="datetimeFigureOut">
              <a:rPr lang="en-US" smtClean="0"/>
              <a:t>4/18/2026</a:t>
            </a:fld>
            <a:endParaRPr lang="en-US"/>
          </a:p>
        </p:txBody>
      </p:sp>
      <p:sp>
        <p:nvSpPr>
          <p:cNvPr id="4" name="Footer Placeholder 3">
            <a:extLst>
              <a:ext uri="{FF2B5EF4-FFF2-40B4-BE49-F238E27FC236}">
                <a16:creationId xmlns:a16="http://schemas.microsoft.com/office/drawing/2014/main" id="{4D26ED61-0EB6-34DE-EFEA-84C0F76501F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DC7A73E-DD53-7A8F-A853-FF638E4466B3}"/>
              </a:ext>
            </a:extLst>
          </p:cNvPr>
          <p:cNvSpPr>
            <a:spLocks noGrp="1"/>
          </p:cNvSpPr>
          <p:nvPr>
            <p:ph type="sldNum" sz="quarter" idx="12"/>
          </p:nvPr>
        </p:nvSpPr>
        <p:spPr/>
        <p:txBody>
          <a:bodyPr/>
          <a:lstStyle/>
          <a:p>
            <a:fld id="{5EFD43E2-C2B3-40F9-83E8-2B202BDAE7AF}" type="slidenum">
              <a:rPr lang="en-US" smtClean="0"/>
              <a:t>‹#›</a:t>
            </a:fld>
            <a:endParaRPr lang="en-US"/>
          </a:p>
        </p:txBody>
      </p:sp>
    </p:spTree>
    <p:extLst>
      <p:ext uri="{BB962C8B-B14F-4D97-AF65-F5344CB8AC3E}">
        <p14:creationId xmlns:p14="http://schemas.microsoft.com/office/powerpoint/2010/main" val="1753256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5871E8E-FCC8-FB4C-E720-69C0043DF2D9}"/>
              </a:ext>
            </a:extLst>
          </p:cNvPr>
          <p:cNvSpPr>
            <a:spLocks noGrp="1"/>
          </p:cNvSpPr>
          <p:nvPr>
            <p:ph type="dt" sz="half" idx="10"/>
          </p:nvPr>
        </p:nvSpPr>
        <p:spPr/>
        <p:txBody>
          <a:bodyPr/>
          <a:lstStyle/>
          <a:p>
            <a:fld id="{EE9B8F3C-6160-44D5-BD7F-ACE266FEFD97}" type="datetimeFigureOut">
              <a:rPr lang="en-US" smtClean="0"/>
              <a:t>4/18/2026</a:t>
            </a:fld>
            <a:endParaRPr lang="en-US"/>
          </a:p>
        </p:txBody>
      </p:sp>
      <p:sp>
        <p:nvSpPr>
          <p:cNvPr id="3" name="Footer Placeholder 2">
            <a:extLst>
              <a:ext uri="{FF2B5EF4-FFF2-40B4-BE49-F238E27FC236}">
                <a16:creationId xmlns:a16="http://schemas.microsoft.com/office/drawing/2014/main" id="{BF624F60-CE11-C5D1-5AE8-293621EBB29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31333FA-3BA7-68BB-FAC4-AAC621595DCD}"/>
              </a:ext>
            </a:extLst>
          </p:cNvPr>
          <p:cNvSpPr>
            <a:spLocks noGrp="1"/>
          </p:cNvSpPr>
          <p:nvPr>
            <p:ph type="sldNum" sz="quarter" idx="12"/>
          </p:nvPr>
        </p:nvSpPr>
        <p:spPr/>
        <p:txBody>
          <a:bodyPr/>
          <a:lstStyle/>
          <a:p>
            <a:fld id="{5EFD43E2-C2B3-40F9-83E8-2B202BDAE7AF}" type="slidenum">
              <a:rPr lang="en-US" smtClean="0"/>
              <a:t>‹#›</a:t>
            </a:fld>
            <a:endParaRPr lang="en-US"/>
          </a:p>
        </p:txBody>
      </p:sp>
    </p:spTree>
    <p:extLst>
      <p:ext uri="{BB962C8B-B14F-4D97-AF65-F5344CB8AC3E}">
        <p14:creationId xmlns:p14="http://schemas.microsoft.com/office/powerpoint/2010/main" val="5378800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51C30-040C-BE60-9AA9-A5F295B1AE3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0F748D7-657F-BCD7-CB5C-B685193E569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E4944B5-EC43-972A-58CD-56B7FB590C7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B090FB1-883C-3FBA-5708-DCFDE223D1E3}"/>
              </a:ext>
            </a:extLst>
          </p:cNvPr>
          <p:cNvSpPr>
            <a:spLocks noGrp="1"/>
          </p:cNvSpPr>
          <p:nvPr>
            <p:ph type="dt" sz="half" idx="10"/>
          </p:nvPr>
        </p:nvSpPr>
        <p:spPr/>
        <p:txBody>
          <a:bodyPr/>
          <a:lstStyle/>
          <a:p>
            <a:fld id="{EE9B8F3C-6160-44D5-BD7F-ACE266FEFD97}" type="datetimeFigureOut">
              <a:rPr lang="en-US" smtClean="0"/>
              <a:t>4/18/2026</a:t>
            </a:fld>
            <a:endParaRPr lang="en-US"/>
          </a:p>
        </p:txBody>
      </p:sp>
      <p:sp>
        <p:nvSpPr>
          <p:cNvPr id="6" name="Footer Placeholder 5">
            <a:extLst>
              <a:ext uri="{FF2B5EF4-FFF2-40B4-BE49-F238E27FC236}">
                <a16:creationId xmlns:a16="http://schemas.microsoft.com/office/drawing/2014/main" id="{838879F1-E97D-E01A-026C-0CB2E5AECAE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3A23E5-93D7-6F18-C88C-61F389615F91}"/>
              </a:ext>
            </a:extLst>
          </p:cNvPr>
          <p:cNvSpPr>
            <a:spLocks noGrp="1"/>
          </p:cNvSpPr>
          <p:nvPr>
            <p:ph type="sldNum" sz="quarter" idx="12"/>
          </p:nvPr>
        </p:nvSpPr>
        <p:spPr/>
        <p:txBody>
          <a:bodyPr/>
          <a:lstStyle/>
          <a:p>
            <a:fld id="{5EFD43E2-C2B3-40F9-83E8-2B202BDAE7AF}" type="slidenum">
              <a:rPr lang="en-US" smtClean="0"/>
              <a:t>‹#›</a:t>
            </a:fld>
            <a:endParaRPr lang="en-US"/>
          </a:p>
        </p:txBody>
      </p:sp>
    </p:spTree>
    <p:extLst>
      <p:ext uri="{BB962C8B-B14F-4D97-AF65-F5344CB8AC3E}">
        <p14:creationId xmlns:p14="http://schemas.microsoft.com/office/powerpoint/2010/main" val="17928383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7650BA-C00F-AE15-9A9D-1F78B4D187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9E2E235-D990-13CF-F52D-C119BEBD09C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8798DC0-0BE5-8D39-9173-16F44A17DC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E7F8B39-B98F-0A34-B043-AF686758BA24}"/>
              </a:ext>
            </a:extLst>
          </p:cNvPr>
          <p:cNvSpPr>
            <a:spLocks noGrp="1"/>
          </p:cNvSpPr>
          <p:nvPr>
            <p:ph type="dt" sz="half" idx="10"/>
          </p:nvPr>
        </p:nvSpPr>
        <p:spPr/>
        <p:txBody>
          <a:bodyPr/>
          <a:lstStyle/>
          <a:p>
            <a:fld id="{EE9B8F3C-6160-44D5-BD7F-ACE266FEFD97}" type="datetimeFigureOut">
              <a:rPr lang="en-US" smtClean="0"/>
              <a:t>4/18/2026</a:t>
            </a:fld>
            <a:endParaRPr lang="en-US"/>
          </a:p>
        </p:txBody>
      </p:sp>
      <p:sp>
        <p:nvSpPr>
          <p:cNvPr id="6" name="Footer Placeholder 5">
            <a:extLst>
              <a:ext uri="{FF2B5EF4-FFF2-40B4-BE49-F238E27FC236}">
                <a16:creationId xmlns:a16="http://schemas.microsoft.com/office/drawing/2014/main" id="{81205A12-BAB5-5A5E-657A-EE8199B8FA8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A834A14-DC1C-8745-C68E-383654585A38}"/>
              </a:ext>
            </a:extLst>
          </p:cNvPr>
          <p:cNvSpPr>
            <a:spLocks noGrp="1"/>
          </p:cNvSpPr>
          <p:nvPr>
            <p:ph type="sldNum" sz="quarter" idx="12"/>
          </p:nvPr>
        </p:nvSpPr>
        <p:spPr/>
        <p:txBody>
          <a:bodyPr/>
          <a:lstStyle/>
          <a:p>
            <a:fld id="{5EFD43E2-C2B3-40F9-83E8-2B202BDAE7AF}" type="slidenum">
              <a:rPr lang="en-US" smtClean="0"/>
              <a:t>‹#›</a:t>
            </a:fld>
            <a:endParaRPr lang="en-US"/>
          </a:p>
        </p:txBody>
      </p:sp>
    </p:spTree>
    <p:extLst>
      <p:ext uri="{BB962C8B-B14F-4D97-AF65-F5344CB8AC3E}">
        <p14:creationId xmlns:p14="http://schemas.microsoft.com/office/powerpoint/2010/main" val="19221885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DE6E66-355C-F246-E045-EB77554EFA2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5EAAF67-B61E-F3A9-510E-7719D860782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85DBCF-1266-E8E7-082B-89C81601D329}"/>
              </a:ext>
            </a:extLst>
          </p:cNvPr>
          <p:cNvSpPr>
            <a:spLocks noGrp="1"/>
          </p:cNvSpPr>
          <p:nvPr>
            <p:ph type="dt" sz="half" idx="10"/>
          </p:nvPr>
        </p:nvSpPr>
        <p:spPr/>
        <p:txBody>
          <a:bodyPr/>
          <a:lstStyle/>
          <a:p>
            <a:fld id="{EE9B8F3C-6160-44D5-BD7F-ACE266FEFD97}" type="datetimeFigureOut">
              <a:rPr lang="en-US" smtClean="0"/>
              <a:t>4/18/2026</a:t>
            </a:fld>
            <a:endParaRPr lang="en-US"/>
          </a:p>
        </p:txBody>
      </p:sp>
      <p:sp>
        <p:nvSpPr>
          <p:cNvPr id="5" name="Footer Placeholder 4">
            <a:extLst>
              <a:ext uri="{FF2B5EF4-FFF2-40B4-BE49-F238E27FC236}">
                <a16:creationId xmlns:a16="http://schemas.microsoft.com/office/drawing/2014/main" id="{6711E4F7-BE6F-7D1E-B7AA-2497C84563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3CA239-8D87-C551-957D-0198AE80CF90}"/>
              </a:ext>
            </a:extLst>
          </p:cNvPr>
          <p:cNvSpPr>
            <a:spLocks noGrp="1"/>
          </p:cNvSpPr>
          <p:nvPr>
            <p:ph type="sldNum" sz="quarter" idx="12"/>
          </p:nvPr>
        </p:nvSpPr>
        <p:spPr/>
        <p:txBody>
          <a:bodyPr/>
          <a:lstStyle/>
          <a:p>
            <a:fld id="{5EFD43E2-C2B3-40F9-83E8-2B202BDAE7AF}" type="slidenum">
              <a:rPr lang="en-US" smtClean="0"/>
              <a:t>‹#›</a:t>
            </a:fld>
            <a:endParaRPr lang="en-US"/>
          </a:p>
        </p:txBody>
      </p:sp>
    </p:spTree>
    <p:extLst>
      <p:ext uri="{BB962C8B-B14F-4D97-AF65-F5344CB8AC3E}">
        <p14:creationId xmlns:p14="http://schemas.microsoft.com/office/powerpoint/2010/main" val="1419603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1558786-0814-A39B-3A5D-D8CEAEB022E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7E8CA08-1B07-C327-2DD3-851F6671E82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C1B825-B7E7-D6AB-C74F-105C509BD011}"/>
              </a:ext>
            </a:extLst>
          </p:cNvPr>
          <p:cNvSpPr>
            <a:spLocks noGrp="1"/>
          </p:cNvSpPr>
          <p:nvPr>
            <p:ph type="dt" sz="half" idx="10"/>
          </p:nvPr>
        </p:nvSpPr>
        <p:spPr/>
        <p:txBody>
          <a:bodyPr/>
          <a:lstStyle/>
          <a:p>
            <a:fld id="{EE9B8F3C-6160-44D5-BD7F-ACE266FEFD97}" type="datetimeFigureOut">
              <a:rPr lang="en-US" smtClean="0"/>
              <a:t>4/18/2026</a:t>
            </a:fld>
            <a:endParaRPr lang="en-US"/>
          </a:p>
        </p:txBody>
      </p:sp>
      <p:sp>
        <p:nvSpPr>
          <p:cNvPr id="5" name="Footer Placeholder 4">
            <a:extLst>
              <a:ext uri="{FF2B5EF4-FFF2-40B4-BE49-F238E27FC236}">
                <a16:creationId xmlns:a16="http://schemas.microsoft.com/office/drawing/2014/main" id="{3533CF40-F80D-B5E5-CE25-E336F73835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C3DFE2-F841-AAC3-3D97-B22BD912F376}"/>
              </a:ext>
            </a:extLst>
          </p:cNvPr>
          <p:cNvSpPr>
            <a:spLocks noGrp="1"/>
          </p:cNvSpPr>
          <p:nvPr>
            <p:ph type="sldNum" sz="quarter" idx="12"/>
          </p:nvPr>
        </p:nvSpPr>
        <p:spPr/>
        <p:txBody>
          <a:bodyPr/>
          <a:lstStyle/>
          <a:p>
            <a:fld id="{5EFD43E2-C2B3-40F9-83E8-2B202BDAE7AF}" type="slidenum">
              <a:rPr lang="en-US" smtClean="0"/>
              <a:t>‹#›</a:t>
            </a:fld>
            <a:endParaRPr lang="en-US"/>
          </a:p>
        </p:txBody>
      </p:sp>
    </p:spTree>
    <p:extLst>
      <p:ext uri="{BB962C8B-B14F-4D97-AF65-F5344CB8AC3E}">
        <p14:creationId xmlns:p14="http://schemas.microsoft.com/office/powerpoint/2010/main" val="41551726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421BA03-7EF6-719D-914A-A3DED079DB7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E952D64-7D08-C6AE-098D-CCE330A916D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FC11827-3517-70C9-0D61-C021A030D9E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E9B8F3C-6160-44D5-BD7F-ACE266FEFD97}" type="datetimeFigureOut">
              <a:rPr lang="en-US" smtClean="0"/>
              <a:t>4/18/2026</a:t>
            </a:fld>
            <a:endParaRPr lang="en-US"/>
          </a:p>
        </p:txBody>
      </p:sp>
      <p:sp>
        <p:nvSpPr>
          <p:cNvPr id="5" name="Footer Placeholder 4">
            <a:extLst>
              <a:ext uri="{FF2B5EF4-FFF2-40B4-BE49-F238E27FC236}">
                <a16:creationId xmlns:a16="http://schemas.microsoft.com/office/drawing/2014/main" id="{625A929A-BF35-4F0D-82EC-CB563A5C568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4B332DA-F00D-B7B5-7976-49299B92492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EFD43E2-C2B3-40F9-83E8-2B202BDAE7AF}" type="slidenum">
              <a:rPr lang="en-US" smtClean="0"/>
              <a:t>‹#›</a:t>
            </a:fld>
            <a:endParaRPr lang="en-US"/>
          </a:p>
        </p:txBody>
      </p:sp>
    </p:spTree>
    <p:extLst>
      <p:ext uri="{BB962C8B-B14F-4D97-AF65-F5344CB8AC3E}">
        <p14:creationId xmlns:p14="http://schemas.microsoft.com/office/powerpoint/2010/main" val="14968190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id="{9BC6F59F-4AA7-7718-1C10-5A0A1C512302}"/>
              </a:ext>
            </a:extLst>
          </p:cNvPr>
          <p:cNvSpPr/>
          <p:nvPr/>
        </p:nvSpPr>
        <p:spPr>
          <a:xfrm>
            <a:off x="4343400" y="587829"/>
            <a:ext cx="3254829" cy="10123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Holding Company LLC</a:t>
            </a:r>
          </a:p>
        </p:txBody>
      </p:sp>
      <p:sp>
        <p:nvSpPr>
          <p:cNvPr id="5" name="Oval 4">
            <a:extLst>
              <a:ext uri="{FF2B5EF4-FFF2-40B4-BE49-F238E27FC236}">
                <a16:creationId xmlns:a16="http://schemas.microsoft.com/office/drawing/2014/main" id="{80344B31-0A70-2066-6E8A-D339D2DD5CEA}"/>
              </a:ext>
            </a:extLst>
          </p:cNvPr>
          <p:cNvSpPr/>
          <p:nvPr/>
        </p:nvSpPr>
        <p:spPr>
          <a:xfrm>
            <a:off x="4389664" y="2416627"/>
            <a:ext cx="3254829" cy="10123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LLC 2</a:t>
            </a:r>
          </a:p>
          <a:p>
            <a:pPr algn="ctr"/>
            <a:r>
              <a:rPr lang="en-US" dirty="0"/>
              <a:t>(Rental Property)</a:t>
            </a:r>
          </a:p>
        </p:txBody>
      </p:sp>
      <p:sp>
        <p:nvSpPr>
          <p:cNvPr id="6" name="Oval 5">
            <a:extLst>
              <a:ext uri="{FF2B5EF4-FFF2-40B4-BE49-F238E27FC236}">
                <a16:creationId xmlns:a16="http://schemas.microsoft.com/office/drawing/2014/main" id="{66AA9782-C1C9-6F35-121B-DB8266BE05D4}"/>
              </a:ext>
            </a:extLst>
          </p:cNvPr>
          <p:cNvSpPr/>
          <p:nvPr/>
        </p:nvSpPr>
        <p:spPr>
          <a:xfrm>
            <a:off x="996042" y="2416628"/>
            <a:ext cx="3254829" cy="10123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LLC 1</a:t>
            </a:r>
          </a:p>
          <a:p>
            <a:pPr algn="ctr"/>
            <a:r>
              <a:rPr lang="en-US" dirty="0"/>
              <a:t>(Business)</a:t>
            </a:r>
          </a:p>
        </p:txBody>
      </p:sp>
      <p:sp>
        <p:nvSpPr>
          <p:cNvPr id="7" name="Oval 6">
            <a:extLst>
              <a:ext uri="{FF2B5EF4-FFF2-40B4-BE49-F238E27FC236}">
                <a16:creationId xmlns:a16="http://schemas.microsoft.com/office/drawing/2014/main" id="{98C97D4F-FFF4-9C46-1511-75F46DE569A9}"/>
              </a:ext>
            </a:extLst>
          </p:cNvPr>
          <p:cNvSpPr/>
          <p:nvPr/>
        </p:nvSpPr>
        <p:spPr>
          <a:xfrm>
            <a:off x="7783286" y="2416628"/>
            <a:ext cx="3254829" cy="10123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LLC 3</a:t>
            </a:r>
          </a:p>
          <a:p>
            <a:pPr algn="ctr"/>
            <a:r>
              <a:rPr lang="en-US" dirty="0"/>
              <a:t>(Business #2 or Rental)</a:t>
            </a:r>
          </a:p>
        </p:txBody>
      </p:sp>
      <p:cxnSp>
        <p:nvCxnSpPr>
          <p:cNvPr id="9" name="Straight Arrow Connector 8">
            <a:extLst>
              <a:ext uri="{FF2B5EF4-FFF2-40B4-BE49-F238E27FC236}">
                <a16:creationId xmlns:a16="http://schemas.microsoft.com/office/drawing/2014/main" id="{C8B49D43-F476-042E-8D4C-81DB2BCE771F}"/>
              </a:ext>
            </a:extLst>
          </p:cNvPr>
          <p:cNvCxnSpPr>
            <a:stCxn id="4" idx="3"/>
            <a:endCxn id="6" idx="0"/>
          </p:cNvCxnSpPr>
          <p:nvPr/>
        </p:nvCxnSpPr>
        <p:spPr>
          <a:xfrm flipH="1">
            <a:off x="2623457" y="1451942"/>
            <a:ext cx="2196602" cy="964686"/>
          </a:xfrm>
          <a:prstGeom prst="straightConnector1">
            <a:avLst/>
          </a:prstGeom>
          <a:ln w="73025">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E257BE7B-2200-2423-4E68-916C5F9D1DBE}"/>
              </a:ext>
            </a:extLst>
          </p:cNvPr>
          <p:cNvCxnSpPr>
            <a:cxnSpLocks/>
            <a:stCxn id="4" idx="4"/>
            <a:endCxn id="5" idx="0"/>
          </p:cNvCxnSpPr>
          <p:nvPr/>
        </p:nvCxnSpPr>
        <p:spPr>
          <a:xfrm>
            <a:off x="5970815" y="1600200"/>
            <a:ext cx="46264" cy="816427"/>
          </a:xfrm>
          <a:prstGeom prst="straightConnector1">
            <a:avLst/>
          </a:prstGeom>
          <a:ln w="73025">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6E398AD9-D369-7863-B26A-77CB65B3C4D8}"/>
              </a:ext>
            </a:extLst>
          </p:cNvPr>
          <p:cNvCxnSpPr>
            <a:cxnSpLocks/>
            <a:stCxn id="4" idx="5"/>
            <a:endCxn id="7" idx="0"/>
          </p:cNvCxnSpPr>
          <p:nvPr/>
        </p:nvCxnSpPr>
        <p:spPr>
          <a:xfrm>
            <a:off x="7121570" y="1451942"/>
            <a:ext cx="2289131" cy="964686"/>
          </a:xfrm>
          <a:prstGeom prst="straightConnector1">
            <a:avLst/>
          </a:prstGeom>
          <a:ln w="73025">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1158D798-0761-BA4A-AC6F-ABD307AD6010}"/>
              </a:ext>
            </a:extLst>
          </p:cNvPr>
          <p:cNvSpPr txBox="1"/>
          <p:nvPr/>
        </p:nvSpPr>
        <p:spPr>
          <a:xfrm>
            <a:off x="1132114" y="4321629"/>
            <a:ext cx="9612085" cy="1754326"/>
          </a:xfrm>
          <a:prstGeom prst="rect">
            <a:avLst/>
          </a:prstGeom>
          <a:noFill/>
        </p:spPr>
        <p:txBody>
          <a:bodyPr wrap="square" rtlCol="0">
            <a:spAutoFit/>
          </a:bodyPr>
          <a:lstStyle/>
          <a:p>
            <a:pPr marL="285750" indent="-285750">
              <a:buFont typeface="Arial" panose="020B0604020202020204" pitchFamily="34" charset="0"/>
              <a:buChar char="•"/>
            </a:pPr>
            <a:r>
              <a:rPr lang="en-US" dirty="0"/>
              <a:t>What is best business set up?</a:t>
            </a:r>
          </a:p>
          <a:p>
            <a:pPr marL="285750" indent="-285750">
              <a:buFont typeface="Arial" panose="020B0604020202020204" pitchFamily="34" charset="0"/>
              <a:buChar char="•"/>
            </a:pPr>
            <a:r>
              <a:rPr lang="en-US" dirty="0"/>
              <a:t>Cost to have above setup, vs multiple separate LLC’s?</a:t>
            </a:r>
          </a:p>
          <a:p>
            <a:pPr marL="285750" indent="-285750">
              <a:buFont typeface="Arial" panose="020B0604020202020204" pitchFamily="34" charset="0"/>
              <a:buChar char="•"/>
            </a:pPr>
            <a:r>
              <a:rPr lang="en-US" dirty="0"/>
              <a:t>Is there a breakover where the above makes sense? Revenue target </a:t>
            </a:r>
            <a:r>
              <a:rPr lang="en-US" dirty="0" err="1"/>
              <a:t>etc</a:t>
            </a:r>
            <a:r>
              <a:rPr lang="en-US" dirty="0"/>
              <a:t>?</a:t>
            </a:r>
          </a:p>
          <a:p>
            <a:pPr marL="285750" indent="-285750">
              <a:buFont typeface="Arial" panose="020B0604020202020204" pitchFamily="34" charset="0"/>
              <a:buChar char="•"/>
            </a:pPr>
            <a:r>
              <a:rPr lang="en-US" dirty="0"/>
              <a:t>Does the above make paperwork or anything else easier/more streamlined?</a:t>
            </a:r>
          </a:p>
          <a:p>
            <a:pPr marL="285750" indent="-285750">
              <a:buFont typeface="Arial" panose="020B0604020202020204" pitchFamily="34" charset="0"/>
              <a:buChar char="•"/>
            </a:pPr>
            <a:r>
              <a:rPr lang="en-US" dirty="0"/>
              <a:t>Is it possible to move already existing LLC’s into this set up in the future?</a:t>
            </a:r>
          </a:p>
          <a:p>
            <a:endParaRPr lang="en-US" dirty="0"/>
          </a:p>
        </p:txBody>
      </p:sp>
    </p:spTree>
    <p:extLst>
      <p:ext uri="{BB962C8B-B14F-4D97-AF65-F5344CB8AC3E}">
        <p14:creationId xmlns:p14="http://schemas.microsoft.com/office/powerpoint/2010/main" val="14869052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9262A4-9C31-9D63-4E42-41D00F68649B}"/>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EF7CACE0-7AAC-D782-56D2-5330FDF826DF}"/>
              </a:ext>
            </a:extLst>
          </p:cNvPr>
          <p:cNvSpPr txBox="1"/>
          <p:nvPr/>
        </p:nvSpPr>
        <p:spPr>
          <a:xfrm>
            <a:off x="217715" y="175598"/>
            <a:ext cx="3537856" cy="584775"/>
          </a:xfrm>
          <a:prstGeom prst="rect">
            <a:avLst/>
          </a:prstGeom>
          <a:noFill/>
        </p:spPr>
        <p:txBody>
          <a:bodyPr wrap="square" rtlCol="0">
            <a:spAutoFit/>
          </a:bodyPr>
          <a:lstStyle/>
          <a:p>
            <a:r>
              <a:rPr lang="en-US" sz="3200" b="1" dirty="0"/>
              <a:t>Zone of Genius</a:t>
            </a:r>
          </a:p>
        </p:txBody>
      </p:sp>
      <p:sp>
        <p:nvSpPr>
          <p:cNvPr id="2" name="Oval 1">
            <a:extLst>
              <a:ext uri="{FF2B5EF4-FFF2-40B4-BE49-F238E27FC236}">
                <a16:creationId xmlns:a16="http://schemas.microsoft.com/office/drawing/2014/main" id="{6A4A1A33-7CB9-8A02-1288-A9E9DCEFDB9B}"/>
              </a:ext>
            </a:extLst>
          </p:cNvPr>
          <p:cNvSpPr/>
          <p:nvPr/>
        </p:nvSpPr>
        <p:spPr>
          <a:xfrm>
            <a:off x="4076699" y="141514"/>
            <a:ext cx="4718957" cy="4360592"/>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Building Things</a:t>
            </a:r>
          </a:p>
          <a:p>
            <a:pPr algn="ctr"/>
            <a:r>
              <a:rPr lang="en-US" dirty="0">
                <a:solidFill>
                  <a:schemeClr val="tx1"/>
                </a:solidFill>
              </a:rPr>
              <a:t>Fixing things</a:t>
            </a:r>
          </a:p>
          <a:p>
            <a:pPr algn="ctr"/>
            <a:r>
              <a:rPr lang="en-US" dirty="0">
                <a:solidFill>
                  <a:schemeClr val="tx1"/>
                </a:solidFill>
              </a:rPr>
              <a:t>Being outdoors</a:t>
            </a:r>
          </a:p>
          <a:p>
            <a:pPr algn="ctr"/>
            <a:r>
              <a:rPr lang="en-US" dirty="0">
                <a:solidFill>
                  <a:schemeClr val="tx1"/>
                </a:solidFill>
              </a:rPr>
              <a:t>Spending time with family in experiences</a:t>
            </a:r>
          </a:p>
          <a:p>
            <a:pPr algn="ctr"/>
            <a:endParaRPr lang="en-US" dirty="0">
              <a:solidFill>
                <a:schemeClr val="tx1"/>
              </a:solidFill>
            </a:endParaRPr>
          </a:p>
        </p:txBody>
      </p:sp>
      <p:sp>
        <p:nvSpPr>
          <p:cNvPr id="8" name="Oval 7">
            <a:extLst>
              <a:ext uri="{FF2B5EF4-FFF2-40B4-BE49-F238E27FC236}">
                <a16:creationId xmlns:a16="http://schemas.microsoft.com/office/drawing/2014/main" id="{284D2518-BEA0-F8EA-426A-20050E8DB15A}"/>
              </a:ext>
            </a:extLst>
          </p:cNvPr>
          <p:cNvSpPr/>
          <p:nvPr/>
        </p:nvSpPr>
        <p:spPr>
          <a:xfrm>
            <a:off x="1823356" y="2321810"/>
            <a:ext cx="5241471" cy="4360592"/>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Project Management</a:t>
            </a:r>
          </a:p>
          <a:p>
            <a:pPr algn="ctr"/>
            <a:r>
              <a:rPr lang="en-US" dirty="0">
                <a:solidFill>
                  <a:schemeClr val="tx1"/>
                </a:solidFill>
              </a:rPr>
              <a:t>SIMOPS</a:t>
            </a:r>
          </a:p>
          <a:p>
            <a:pPr algn="ctr"/>
            <a:r>
              <a:rPr lang="en-US" dirty="0">
                <a:solidFill>
                  <a:schemeClr val="tx1"/>
                </a:solidFill>
              </a:rPr>
              <a:t>Operations</a:t>
            </a:r>
          </a:p>
          <a:p>
            <a:pPr algn="ctr"/>
            <a:r>
              <a:rPr lang="en-US" dirty="0">
                <a:solidFill>
                  <a:schemeClr val="tx1"/>
                </a:solidFill>
              </a:rPr>
              <a:t>Analytical</a:t>
            </a:r>
          </a:p>
          <a:p>
            <a:pPr algn="ctr"/>
            <a:r>
              <a:rPr lang="en-US" dirty="0">
                <a:solidFill>
                  <a:schemeClr val="tx1"/>
                </a:solidFill>
              </a:rPr>
              <a:t>Process Improvement</a:t>
            </a:r>
          </a:p>
          <a:p>
            <a:pPr algn="ctr"/>
            <a:r>
              <a:rPr lang="en-US" dirty="0">
                <a:solidFill>
                  <a:schemeClr val="tx1"/>
                </a:solidFill>
              </a:rPr>
              <a:t>Systems/Process Design</a:t>
            </a:r>
          </a:p>
        </p:txBody>
      </p:sp>
      <p:sp>
        <p:nvSpPr>
          <p:cNvPr id="11" name="Oval 10">
            <a:extLst>
              <a:ext uri="{FF2B5EF4-FFF2-40B4-BE49-F238E27FC236}">
                <a16:creationId xmlns:a16="http://schemas.microsoft.com/office/drawing/2014/main" id="{1EB61885-5F86-CA73-AEAB-455ADD3F472C}"/>
              </a:ext>
            </a:extLst>
          </p:cNvPr>
          <p:cNvSpPr/>
          <p:nvPr/>
        </p:nvSpPr>
        <p:spPr>
          <a:xfrm>
            <a:off x="5938156" y="2355894"/>
            <a:ext cx="5029199" cy="4360592"/>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Private Money – Friends/Family</a:t>
            </a:r>
          </a:p>
          <a:p>
            <a:pPr algn="ctr"/>
            <a:r>
              <a:rPr lang="en-US" dirty="0">
                <a:solidFill>
                  <a:schemeClr val="tx1"/>
                </a:solidFill>
              </a:rPr>
              <a:t>BIL – Handyman</a:t>
            </a:r>
          </a:p>
          <a:p>
            <a:pPr algn="ctr"/>
            <a:r>
              <a:rPr lang="en-US" dirty="0">
                <a:solidFill>
                  <a:schemeClr val="tx1"/>
                </a:solidFill>
              </a:rPr>
              <a:t>BIL – Physical Therapist</a:t>
            </a:r>
          </a:p>
          <a:p>
            <a:pPr algn="ctr"/>
            <a:r>
              <a:rPr lang="en-US" dirty="0">
                <a:solidFill>
                  <a:schemeClr val="tx1"/>
                </a:solidFill>
              </a:rPr>
              <a:t>SIL – Nurses/Doctor</a:t>
            </a:r>
          </a:p>
          <a:p>
            <a:pPr algn="ctr"/>
            <a:r>
              <a:rPr lang="en-US" dirty="0">
                <a:solidFill>
                  <a:schemeClr val="tx1"/>
                </a:solidFill>
              </a:rPr>
              <a:t>Friends – Business owners/salesmen</a:t>
            </a:r>
          </a:p>
        </p:txBody>
      </p:sp>
      <p:sp>
        <p:nvSpPr>
          <p:cNvPr id="12" name="TextBox 11">
            <a:extLst>
              <a:ext uri="{FF2B5EF4-FFF2-40B4-BE49-F238E27FC236}">
                <a16:creationId xmlns:a16="http://schemas.microsoft.com/office/drawing/2014/main" id="{DE2EF673-026C-A6EE-711C-FEB3F0C63303}"/>
              </a:ext>
            </a:extLst>
          </p:cNvPr>
          <p:cNvSpPr txBox="1"/>
          <p:nvPr/>
        </p:nvSpPr>
        <p:spPr>
          <a:xfrm>
            <a:off x="7796891" y="141514"/>
            <a:ext cx="1311727" cy="461665"/>
          </a:xfrm>
          <a:prstGeom prst="rect">
            <a:avLst/>
          </a:prstGeom>
          <a:noFill/>
        </p:spPr>
        <p:txBody>
          <a:bodyPr wrap="square" rtlCol="0">
            <a:spAutoFit/>
          </a:bodyPr>
          <a:lstStyle/>
          <a:p>
            <a:r>
              <a:rPr lang="en-US" sz="2400" b="1" dirty="0"/>
              <a:t>Passion</a:t>
            </a:r>
          </a:p>
        </p:txBody>
      </p:sp>
      <p:sp>
        <p:nvSpPr>
          <p:cNvPr id="14" name="TextBox 13">
            <a:extLst>
              <a:ext uri="{FF2B5EF4-FFF2-40B4-BE49-F238E27FC236}">
                <a16:creationId xmlns:a16="http://schemas.microsoft.com/office/drawing/2014/main" id="{54AA37FF-CD09-0787-7970-0DD9A59B3E95}"/>
              </a:ext>
            </a:extLst>
          </p:cNvPr>
          <p:cNvSpPr txBox="1"/>
          <p:nvPr/>
        </p:nvSpPr>
        <p:spPr>
          <a:xfrm>
            <a:off x="9726385" y="6288905"/>
            <a:ext cx="1532166" cy="461665"/>
          </a:xfrm>
          <a:prstGeom prst="rect">
            <a:avLst/>
          </a:prstGeom>
          <a:noFill/>
        </p:spPr>
        <p:txBody>
          <a:bodyPr wrap="square" rtlCol="0">
            <a:spAutoFit/>
          </a:bodyPr>
          <a:lstStyle/>
          <a:p>
            <a:r>
              <a:rPr lang="en-US" sz="2400" b="1" dirty="0"/>
              <a:t>Network</a:t>
            </a:r>
          </a:p>
        </p:txBody>
      </p:sp>
      <p:sp>
        <p:nvSpPr>
          <p:cNvPr id="15" name="TextBox 14">
            <a:extLst>
              <a:ext uri="{FF2B5EF4-FFF2-40B4-BE49-F238E27FC236}">
                <a16:creationId xmlns:a16="http://schemas.microsoft.com/office/drawing/2014/main" id="{463B37E4-E50B-14E1-8E6D-75DE6D5044E1}"/>
              </a:ext>
            </a:extLst>
          </p:cNvPr>
          <p:cNvSpPr txBox="1"/>
          <p:nvPr/>
        </p:nvSpPr>
        <p:spPr>
          <a:xfrm>
            <a:off x="1115786" y="5885489"/>
            <a:ext cx="2242456" cy="830997"/>
          </a:xfrm>
          <a:prstGeom prst="rect">
            <a:avLst/>
          </a:prstGeom>
          <a:noFill/>
        </p:spPr>
        <p:txBody>
          <a:bodyPr wrap="square" rtlCol="0">
            <a:spAutoFit/>
          </a:bodyPr>
          <a:lstStyle/>
          <a:p>
            <a:r>
              <a:rPr lang="en-US" sz="2400" b="1" dirty="0"/>
              <a:t>Skills and Experience</a:t>
            </a:r>
          </a:p>
        </p:txBody>
      </p:sp>
      <p:pic>
        <p:nvPicPr>
          <p:cNvPr id="18" name="Picture 17">
            <a:extLst>
              <a:ext uri="{FF2B5EF4-FFF2-40B4-BE49-F238E27FC236}">
                <a16:creationId xmlns:a16="http://schemas.microsoft.com/office/drawing/2014/main" id="{47EA98D6-02EA-12CF-92F6-EB02BA4E4298}"/>
              </a:ext>
            </a:extLst>
          </p:cNvPr>
          <p:cNvPicPr>
            <a:picLocks noChangeAspect="1"/>
          </p:cNvPicPr>
          <p:nvPr/>
        </p:nvPicPr>
        <p:blipFill>
          <a:blip r:embed="rId2"/>
          <a:stretch>
            <a:fillRect/>
          </a:stretch>
        </p:blipFill>
        <p:spPr>
          <a:xfrm>
            <a:off x="11974285" y="0"/>
            <a:ext cx="5315965" cy="6858000"/>
          </a:xfrm>
          <a:prstGeom prst="rect">
            <a:avLst/>
          </a:prstGeom>
        </p:spPr>
      </p:pic>
    </p:spTree>
    <p:extLst>
      <p:ext uri="{BB962C8B-B14F-4D97-AF65-F5344CB8AC3E}">
        <p14:creationId xmlns:p14="http://schemas.microsoft.com/office/powerpoint/2010/main" val="28353067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9F8280B6-43D6-D5D2-6734-045D955515A7}"/>
              </a:ext>
            </a:extLst>
          </p:cNvPr>
          <p:cNvSpPr>
            <a:spLocks noGrp="1"/>
          </p:cNvSpPr>
          <p:nvPr>
            <p:ph type="body" idx="1"/>
          </p:nvPr>
        </p:nvSpPr>
        <p:spPr>
          <a:xfrm>
            <a:off x="839787" y="168049"/>
            <a:ext cx="5157787" cy="823912"/>
          </a:xfrm>
        </p:spPr>
        <p:txBody>
          <a:bodyPr/>
          <a:lstStyle/>
          <a:p>
            <a:r>
              <a:rPr lang="en-US" dirty="0"/>
              <a:t>Business’s I DON’T Want</a:t>
            </a:r>
          </a:p>
        </p:txBody>
      </p:sp>
      <p:sp>
        <p:nvSpPr>
          <p:cNvPr id="6" name="Content Placeholder 5">
            <a:extLst>
              <a:ext uri="{FF2B5EF4-FFF2-40B4-BE49-F238E27FC236}">
                <a16:creationId xmlns:a16="http://schemas.microsoft.com/office/drawing/2014/main" id="{0CA05026-ED95-0125-83B8-2B71D978A380}"/>
              </a:ext>
            </a:extLst>
          </p:cNvPr>
          <p:cNvSpPr>
            <a:spLocks noGrp="1"/>
          </p:cNvSpPr>
          <p:nvPr>
            <p:ph sz="half" idx="2"/>
          </p:nvPr>
        </p:nvSpPr>
        <p:spPr>
          <a:xfrm>
            <a:off x="839788" y="1080293"/>
            <a:ext cx="5157787" cy="5109370"/>
          </a:xfrm>
        </p:spPr>
        <p:txBody>
          <a:bodyPr/>
          <a:lstStyle/>
          <a:p>
            <a:r>
              <a:rPr lang="en-US" dirty="0"/>
              <a:t>Restaurants</a:t>
            </a:r>
          </a:p>
          <a:p>
            <a:r>
              <a:rPr lang="en-US" dirty="0"/>
              <a:t>Hotels</a:t>
            </a:r>
          </a:p>
          <a:p>
            <a:r>
              <a:rPr lang="en-US" dirty="0"/>
              <a:t>Retail Storefronts (upfront costs for inventory), high rents</a:t>
            </a:r>
          </a:p>
          <a:p>
            <a:r>
              <a:rPr lang="en-US" dirty="0"/>
              <a:t>Consulting firm</a:t>
            </a:r>
          </a:p>
          <a:p>
            <a:r>
              <a:rPr lang="en-US" dirty="0"/>
              <a:t>Personal brands</a:t>
            </a:r>
          </a:p>
          <a:p>
            <a:r>
              <a:rPr lang="en-US" dirty="0"/>
              <a:t>Dry cleaners</a:t>
            </a:r>
          </a:p>
        </p:txBody>
      </p:sp>
      <p:sp>
        <p:nvSpPr>
          <p:cNvPr id="7" name="Text Placeholder 6">
            <a:extLst>
              <a:ext uri="{FF2B5EF4-FFF2-40B4-BE49-F238E27FC236}">
                <a16:creationId xmlns:a16="http://schemas.microsoft.com/office/drawing/2014/main" id="{AD04AA2A-8C83-1FE2-55C0-AC4F4475A4E5}"/>
              </a:ext>
            </a:extLst>
          </p:cNvPr>
          <p:cNvSpPr>
            <a:spLocks noGrp="1"/>
          </p:cNvSpPr>
          <p:nvPr>
            <p:ph type="body" sz="quarter" idx="3"/>
          </p:nvPr>
        </p:nvSpPr>
        <p:spPr>
          <a:xfrm>
            <a:off x="6194428" y="256381"/>
            <a:ext cx="5183188" cy="823912"/>
          </a:xfrm>
        </p:spPr>
        <p:txBody>
          <a:bodyPr/>
          <a:lstStyle/>
          <a:p>
            <a:r>
              <a:rPr lang="en-US" dirty="0"/>
              <a:t>Business’s I DO Want</a:t>
            </a:r>
          </a:p>
        </p:txBody>
      </p:sp>
      <p:sp>
        <p:nvSpPr>
          <p:cNvPr id="8" name="Content Placeholder 7">
            <a:extLst>
              <a:ext uri="{FF2B5EF4-FFF2-40B4-BE49-F238E27FC236}">
                <a16:creationId xmlns:a16="http://schemas.microsoft.com/office/drawing/2014/main" id="{90120BCC-9745-4138-626E-027D9A2B724E}"/>
              </a:ext>
            </a:extLst>
          </p:cNvPr>
          <p:cNvSpPr>
            <a:spLocks noGrp="1"/>
          </p:cNvSpPr>
          <p:nvPr>
            <p:ph sz="quarter" idx="4"/>
          </p:nvPr>
        </p:nvSpPr>
        <p:spPr>
          <a:xfrm>
            <a:off x="6172200" y="1080293"/>
            <a:ext cx="5183188" cy="5109370"/>
          </a:xfrm>
        </p:spPr>
        <p:txBody>
          <a:bodyPr/>
          <a:lstStyle/>
          <a:p>
            <a:r>
              <a:rPr lang="en-US" dirty="0"/>
              <a:t>Electrical</a:t>
            </a:r>
          </a:p>
          <a:p>
            <a:r>
              <a:rPr lang="en-US" dirty="0"/>
              <a:t>Carpentry</a:t>
            </a:r>
          </a:p>
          <a:p>
            <a:r>
              <a:rPr lang="en-US" dirty="0"/>
              <a:t>Landscaping / Fencing</a:t>
            </a:r>
          </a:p>
          <a:p>
            <a:r>
              <a:rPr lang="en-US" dirty="0"/>
              <a:t>Pool Cleaning</a:t>
            </a:r>
          </a:p>
          <a:p>
            <a:r>
              <a:rPr lang="en-US" dirty="0"/>
              <a:t>Roofing</a:t>
            </a:r>
          </a:p>
          <a:p>
            <a:r>
              <a:rPr lang="en-US" dirty="0"/>
              <a:t>Accounting</a:t>
            </a:r>
          </a:p>
          <a:p>
            <a:r>
              <a:rPr lang="en-US" dirty="0"/>
              <a:t>RV Parks / Self Storage</a:t>
            </a:r>
          </a:p>
          <a:p>
            <a:r>
              <a:rPr lang="en-US" dirty="0"/>
              <a:t>Carwash</a:t>
            </a:r>
          </a:p>
        </p:txBody>
      </p:sp>
    </p:spTree>
    <p:extLst>
      <p:ext uri="{BB962C8B-B14F-4D97-AF65-F5344CB8AC3E}">
        <p14:creationId xmlns:p14="http://schemas.microsoft.com/office/powerpoint/2010/main" val="24404794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4BF9DF4-8B87-6485-77B3-222DF2E20E99}"/>
              </a:ext>
            </a:extLst>
          </p:cNvPr>
          <p:cNvSpPr>
            <a:spLocks noGrp="1"/>
          </p:cNvSpPr>
          <p:nvPr>
            <p:ph type="title"/>
          </p:nvPr>
        </p:nvSpPr>
        <p:spPr/>
        <p:txBody>
          <a:bodyPr/>
          <a:lstStyle/>
          <a:p>
            <a:r>
              <a:rPr lang="en-US" dirty="0"/>
              <a:t>My Deal Box</a:t>
            </a:r>
          </a:p>
        </p:txBody>
      </p:sp>
      <p:sp>
        <p:nvSpPr>
          <p:cNvPr id="8" name="TextBox 7">
            <a:extLst>
              <a:ext uri="{FF2B5EF4-FFF2-40B4-BE49-F238E27FC236}">
                <a16:creationId xmlns:a16="http://schemas.microsoft.com/office/drawing/2014/main" id="{EDA76569-74F3-DA38-EF50-B27B6A483316}"/>
              </a:ext>
            </a:extLst>
          </p:cNvPr>
          <p:cNvSpPr txBox="1"/>
          <p:nvPr/>
        </p:nvSpPr>
        <p:spPr>
          <a:xfrm>
            <a:off x="587828" y="1592716"/>
            <a:ext cx="10112829" cy="2308324"/>
          </a:xfrm>
          <a:prstGeom prst="rect">
            <a:avLst/>
          </a:prstGeom>
          <a:noFill/>
        </p:spPr>
        <p:txBody>
          <a:bodyPr wrap="square" rtlCol="0">
            <a:spAutoFit/>
          </a:bodyPr>
          <a:lstStyle/>
          <a:p>
            <a:pPr marL="285750" indent="-285750">
              <a:buFont typeface="Arial" panose="020B0604020202020204" pitchFamily="34" charset="0"/>
              <a:buChar char="•"/>
            </a:pPr>
            <a:r>
              <a:rPr lang="en-US" dirty="0"/>
              <a:t>$300k SDE ($200k ok, if need to hire operator)</a:t>
            </a:r>
          </a:p>
          <a:p>
            <a:pPr marL="285750" indent="-285750">
              <a:buFont typeface="Arial" panose="020B0604020202020204" pitchFamily="34" charset="0"/>
              <a:buChar char="•"/>
            </a:pPr>
            <a:r>
              <a:rPr lang="en-US" dirty="0"/>
              <a:t>Semi absentee</a:t>
            </a:r>
          </a:p>
          <a:p>
            <a:pPr marL="285750" indent="-285750">
              <a:buFont typeface="Arial" panose="020B0604020202020204" pitchFamily="34" charset="0"/>
              <a:buChar char="•"/>
            </a:pPr>
            <a:r>
              <a:rPr lang="en-US" dirty="0"/>
              <a:t>Anchorage or Katy/San Antonio</a:t>
            </a:r>
          </a:p>
          <a:p>
            <a:pPr marL="285750" indent="-285750">
              <a:buFont typeface="Arial" panose="020B0604020202020204" pitchFamily="34" charset="0"/>
              <a:buChar char="•"/>
            </a:pPr>
            <a:r>
              <a:rPr lang="en-US" dirty="0"/>
              <a:t>Trades (Electrical/Carpentry/Plumbing/HVAC/Water Wells </a:t>
            </a:r>
            <a:r>
              <a:rPr lang="en-US" dirty="0" err="1"/>
              <a:t>etc</a:t>
            </a:r>
            <a:r>
              <a:rPr lang="en-US" dirty="0"/>
              <a:t>)</a:t>
            </a:r>
          </a:p>
          <a:p>
            <a:pPr marL="285750" indent="-285750">
              <a:buFont typeface="Arial" panose="020B0604020202020204" pitchFamily="34" charset="0"/>
              <a:buChar char="•"/>
            </a:pPr>
            <a:r>
              <a:rPr lang="en-US" dirty="0"/>
              <a:t>Health and wellness (trainers/hair salon/nails/spa)</a:t>
            </a:r>
          </a:p>
          <a:p>
            <a:pPr marL="285750" indent="-285750">
              <a:buFont typeface="Arial" panose="020B0604020202020204" pitchFamily="34" charset="0"/>
              <a:buChar char="•"/>
            </a:pPr>
            <a:r>
              <a:rPr lang="en-US" dirty="0"/>
              <a:t>Interior Design</a:t>
            </a:r>
          </a:p>
          <a:p>
            <a:pPr marL="285750" indent="-285750">
              <a:buFont typeface="Arial" panose="020B0604020202020204" pitchFamily="34" charset="0"/>
              <a:buChar char="•"/>
            </a:pPr>
            <a:r>
              <a:rPr lang="en-US" dirty="0"/>
              <a:t>Real Estate</a:t>
            </a:r>
          </a:p>
          <a:p>
            <a:pPr marL="285750" indent="-285750">
              <a:buFont typeface="Arial" panose="020B0604020202020204" pitchFamily="34" charset="0"/>
              <a:buChar char="•"/>
            </a:pPr>
            <a:r>
              <a:rPr lang="en-US" dirty="0"/>
              <a:t>Farming/Hunting</a:t>
            </a:r>
          </a:p>
        </p:txBody>
      </p:sp>
    </p:spTree>
    <p:extLst>
      <p:ext uri="{BB962C8B-B14F-4D97-AF65-F5344CB8AC3E}">
        <p14:creationId xmlns:p14="http://schemas.microsoft.com/office/powerpoint/2010/main" val="5840615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70A322-F8D3-AEA3-00D6-6A93E422454B}"/>
              </a:ext>
            </a:extLst>
          </p:cNvPr>
          <p:cNvSpPr>
            <a:spLocks noGrp="1"/>
          </p:cNvSpPr>
          <p:nvPr>
            <p:ph type="title"/>
          </p:nvPr>
        </p:nvSpPr>
        <p:spPr/>
        <p:txBody>
          <a:bodyPr/>
          <a:lstStyle/>
          <a:p>
            <a:r>
              <a:rPr lang="en-US" dirty="0"/>
              <a:t>Basic Prep for Call w/ Owner (Vertical IQ)</a:t>
            </a:r>
          </a:p>
        </p:txBody>
      </p:sp>
      <p:sp>
        <p:nvSpPr>
          <p:cNvPr id="3" name="TextBox 2">
            <a:extLst>
              <a:ext uri="{FF2B5EF4-FFF2-40B4-BE49-F238E27FC236}">
                <a16:creationId xmlns:a16="http://schemas.microsoft.com/office/drawing/2014/main" id="{48BF1276-86BE-FE41-24F8-4A778FFD862A}"/>
              </a:ext>
            </a:extLst>
          </p:cNvPr>
          <p:cNvSpPr txBox="1"/>
          <p:nvPr/>
        </p:nvSpPr>
        <p:spPr>
          <a:xfrm>
            <a:off x="838200" y="1690688"/>
            <a:ext cx="10831286" cy="1477328"/>
          </a:xfrm>
          <a:prstGeom prst="rect">
            <a:avLst/>
          </a:prstGeom>
          <a:noFill/>
        </p:spPr>
        <p:txBody>
          <a:bodyPr wrap="square" rtlCol="0">
            <a:spAutoFit/>
          </a:bodyPr>
          <a:lstStyle/>
          <a:p>
            <a:pPr marL="285750" indent="-285750">
              <a:buFont typeface="Arial" panose="020B0604020202020204" pitchFamily="34" charset="0"/>
              <a:buChar char="•"/>
            </a:pPr>
            <a:r>
              <a:rPr lang="en-US" dirty="0"/>
              <a:t>What does business do, what issues they face?</a:t>
            </a:r>
          </a:p>
          <a:p>
            <a:pPr marL="285750" indent="-285750">
              <a:buFont typeface="Arial" panose="020B0604020202020204" pitchFamily="34" charset="0"/>
              <a:buChar char="•"/>
            </a:pPr>
            <a:r>
              <a:rPr lang="en-US" dirty="0"/>
              <a:t>Seasonality / Collections / Revenue</a:t>
            </a:r>
          </a:p>
          <a:p>
            <a:pPr marL="285750" indent="-285750">
              <a:buFont typeface="Arial" panose="020B0604020202020204" pitchFamily="34" charset="0"/>
              <a:buChar char="•"/>
            </a:pPr>
            <a:r>
              <a:rPr lang="en-US" dirty="0"/>
              <a:t>Industry News – Things going on Macro Level in industry</a:t>
            </a:r>
          </a:p>
          <a:p>
            <a:pPr marL="742950" lvl="1" indent="-285750">
              <a:buFont typeface="Arial" panose="020B0604020202020204" pitchFamily="34" charset="0"/>
              <a:buChar char="•"/>
            </a:pPr>
            <a:r>
              <a:rPr lang="en-US" dirty="0"/>
              <a:t>Watch video and take notes</a:t>
            </a:r>
          </a:p>
          <a:p>
            <a:pPr marL="742950" lvl="1" indent="-285750">
              <a:buFont typeface="Arial" panose="020B0604020202020204" pitchFamily="34" charset="0"/>
              <a:buChar char="•"/>
            </a:pPr>
            <a:r>
              <a:rPr lang="en-US" dirty="0"/>
              <a:t>Use Prep Sheet</a:t>
            </a:r>
          </a:p>
        </p:txBody>
      </p:sp>
    </p:spTree>
    <p:extLst>
      <p:ext uri="{BB962C8B-B14F-4D97-AF65-F5344CB8AC3E}">
        <p14:creationId xmlns:p14="http://schemas.microsoft.com/office/powerpoint/2010/main" val="28637955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2EA9D-8AFF-0C6C-DBDB-D544899381C0}"/>
              </a:ext>
            </a:extLst>
          </p:cNvPr>
          <p:cNvSpPr>
            <a:spLocks noGrp="1"/>
          </p:cNvSpPr>
          <p:nvPr>
            <p:ph type="title"/>
          </p:nvPr>
        </p:nvSpPr>
        <p:spPr>
          <a:xfrm>
            <a:off x="839788" y="339242"/>
            <a:ext cx="3932237" cy="1069975"/>
          </a:xfrm>
        </p:spPr>
        <p:txBody>
          <a:bodyPr/>
          <a:lstStyle/>
          <a:p>
            <a:r>
              <a:rPr lang="en-US" b="1" dirty="0"/>
              <a:t>Matthew Smith</a:t>
            </a:r>
            <a:br>
              <a:rPr lang="en-US" dirty="0"/>
            </a:br>
            <a:r>
              <a:rPr lang="en-US" dirty="0"/>
              <a:t>Buyer Profile</a:t>
            </a:r>
          </a:p>
        </p:txBody>
      </p:sp>
      <p:sp>
        <p:nvSpPr>
          <p:cNvPr id="4" name="Text Placeholder 3">
            <a:extLst>
              <a:ext uri="{FF2B5EF4-FFF2-40B4-BE49-F238E27FC236}">
                <a16:creationId xmlns:a16="http://schemas.microsoft.com/office/drawing/2014/main" id="{15E97EBB-85B0-BB31-667B-A53E80DCB510}"/>
              </a:ext>
            </a:extLst>
          </p:cNvPr>
          <p:cNvSpPr>
            <a:spLocks noGrp="1"/>
          </p:cNvSpPr>
          <p:nvPr>
            <p:ph type="body" sz="half" idx="2"/>
          </p:nvPr>
        </p:nvSpPr>
        <p:spPr/>
        <p:txBody>
          <a:bodyPr/>
          <a:lstStyle/>
          <a:p>
            <a:endParaRPr lang="en-US"/>
          </a:p>
        </p:txBody>
      </p:sp>
      <p:sp>
        <p:nvSpPr>
          <p:cNvPr id="8" name="Picture Placeholder 7">
            <a:extLst>
              <a:ext uri="{FF2B5EF4-FFF2-40B4-BE49-F238E27FC236}">
                <a16:creationId xmlns:a16="http://schemas.microsoft.com/office/drawing/2014/main" id="{F9F210D4-9523-45FD-B723-E19FBEF7364A}"/>
              </a:ext>
            </a:extLst>
          </p:cNvPr>
          <p:cNvSpPr>
            <a:spLocks noGrp="1"/>
          </p:cNvSpPr>
          <p:nvPr>
            <p:ph type="pic" idx="1"/>
          </p:nvPr>
        </p:nvSpPr>
        <p:spPr/>
        <p:txBody>
          <a:bodyPr/>
          <a:lstStyle/>
          <a:p>
            <a:endParaRPr lang="en-US"/>
          </a:p>
        </p:txBody>
      </p:sp>
      <p:pic>
        <p:nvPicPr>
          <p:cNvPr id="10" name="Picture 9">
            <a:extLst>
              <a:ext uri="{FF2B5EF4-FFF2-40B4-BE49-F238E27FC236}">
                <a16:creationId xmlns:a16="http://schemas.microsoft.com/office/drawing/2014/main" id="{86819F7E-68CA-06D4-CBA5-3A825C1D04E5}"/>
              </a:ext>
            </a:extLst>
          </p:cNvPr>
          <p:cNvPicPr>
            <a:picLocks noChangeAspect="1"/>
          </p:cNvPicPr>
          <p:nvPr/>
        </p:nvPicPr>
        <p:blipFill>
          <a:blip r:embed="rId2"/>
          <a:stretch>
            <a:fillRect/>
          </a:stretch>
        </p:blipFill>
        <p:spPr>
          <a:xfrm>
            <a:off x="4583575" y="923781"/>
            <a:ext cx="12192000" cy="5000911"/>
          </a:xfrm>
          <a:prstGeom prst="rect">
            <a:avLst/>
          </a:prstGeom>
        </p:spPr>
      </p:pic>
    </p:spTree>
    <p:extLst>
      <p:ext uri="{BB962C8B-B14F-4D97-AF65-F5344CB8AC3E}">
        <p14:creationId xmlns:p14="http://schemas.microsoft.com/office/powerpoint/2010/main" val="4746687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C29E129-90CC-23BF-759C-B3FB8D93702A}"/>
              </a:ext>
            </a:extLst>
          </p:cNvPr>
          <p:cNvSpPr>
            <a:spLocks noGrp="1"/>
          </p:cNvSpPr>
          <p:nvPr>
            <p:ph type="title"/>
          </p:nvPr>
        </p:nvSpPr>
        <p:spPr/>
        <p:txBody>
          <a:bodyPr/>
          <a:lstStyle/>
          <a:p>
            <a:r>
              <a:rPr lang="en-US" dirty="0"/>
              <a:t>SMB Attorney Questions</a:t>
            </a:r>
          </a:p>
        </p:txBody>
      </p:sp>
      <p:sp>
        <p:nvSpPr>
          <p:cNvPr id="6" name="Content Placeholder 5">
            <a:extLst>
              <a:ext uri="{FF2B5EF4-FFF2-40B4-BE49-F238E27FC236}">
                <a16:creationId xmlns:a16="http://schemas.microsoft.com/office/drawing/2014/main" id="{011A65A3-68A5-BCFE-354A-60490EA3D94B}"/>
              </a:ext>
            </a:extLst>
          </p:cNvPr>
          <p:cNvSpPr>
            <a:spLocks noGrp="1"/>
          </p:cNvSpPr>
          <p:nvPr>
            <p:ph idx="1"/>
          </p:nvPr>
        </p:nvSpPr>
        <p:spPr/>
        <p:txBody>
          <a:bodyPr>
            <a:normAutofit fontScale="62500" lnSpcReduction="20000"/>
          </a:bodyPr>
          <a:lstStyle/>
          <a:p>
            <a:r>
              <a:rPr lang="en-US" b="1" dirty="0"/>
              <a:t>Do you have any prior experience in LOI creation or SMB acquisition?</a:t>
            </a:r>
            <a:r>
              <a:rPr lang="en-US" dirty="0"/>
              <a:t> Experience is the name of the game, and you’ll want an attorney who knows how to swim with the sharks.</a:t>
            </a:r>
          </a:p>
          <a:p>
            <a:r>
              <a:rPr lang="en-US" b="1" dirty="0"/>
              <a:t>Do you have any client references</a:t>
            </a:r>
            <a:r>
              <a:rPr lang="en-US" dirty="0"/>
              <a:t>? A good attorney will have a fan club of satisfied clients who can vouch for their ability to work their legal magic on deals like yours.</a:t>
            </a:r>
          </a:p>
          <a:p>
            <a:r>
              <a:rPr lang="en-US" b="1" dirty="0"/>
              <a:t>Do you have any experience in [your specific industry of the deal]?</a:t>
            </a:r>
            <a:r>
              <a:rPr lang="en-US" dirty="0"/>
              <a:t> It’s a big plus if your attorney knows the ins and outs of the industry you’re entering, because they can help you navigate the minefield of regulations like a pro.</a:t>
            </a:r>
          </a:p>
          <a:p>
            <a:r>
              <a:rPr lang="en-US" b="1" dirty="0"/>
              <a:t>What clauses should I add or remove to my LOI to make sure I am covered in the deal?</a:t>
            </a:r>
            <a:r>
              <a:rPr lang="en-US" dirty="0"/>
              <a:t> A skilled attorney can cook up an LOI with all the right ingredients to keep your interests safe and sound, without giving away the secret sauce.</a:t>
            </a:r>
          </a:p>
          <a:p>
            <a:r>
              <a:rPr lang="en-US" b="1" dirty="0"/>
              <a:t>How involved are you with the seller and the seller’s attorneys?</a:t>
            </a:r>
            <a:r>
              <a:rPr lang="en-US" dirty="0"/>
              <a:t> Your attorney should be a smooth operator when it comes to negotiations, making sure you come out on top without ruffling too many feathers.</a:t>
            </a:r>
          </a:p>
          <a:p>
            <a:r>
              <a:rPr lang="en-US" b="1" dirty="0"/>
              <a:t>How do you prefer to bill? By the hour or retainer?</a:t>
            </a:r>
            <a:r>
              <a:rPr lang="en-US" dirty="0"/>
              <a:t> Is it a flat fee, an hourly rate, or some other mystical concoction? No one likes surprises when it comes to the bill, so better to get the money talk out of the way early.</a:t>
            </a:r>
          </a:p>
          <a:p>
            <a:r>
              <a:rPr lang="en-US" b="1" dirty="0"/>
              <a:t>How do you prefer to communicate with clients?</a:t>
            </a:r>
            <a:r>
              <a:rPr lang="en-US" dirty="0"/>
              <a:t> Good communication is essential, so make sure your attorney won’t ghost you and will keep you in the loop as the deal unfolds.</a:t>
            </a:r>
          </a:p>
          <a:p>
            <a:endParaRPr lang="en-US" dirty="0"/>
          </a:p>
        </p:txBody>
      </p:sp>
    </p:spTree>
    <p:extLst>
      <p:ext uri="{BB962C8B-B14F-4D97-AF65-F5344CB8AC3E}">
        <p14:creationId xmlns:p14="http://schemas.microsoft.com/office/powerpoint/2010/main" val="40415405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CAD3F-4A6D-34D1-9693-A8F0F7B19627}"/>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EE6E58FD-F7B8-1850-8D85-F165ABA7BA45}"/>
              </a:ext>
            </a:extLst>
          </p:cNvPr>
          <p:cNvPicPr>
            <a:picLocks noGrp="1" noChangeAspect="1"/>
          </p:cNvPicPr>
          <p:nvPr>
            <p:ph idx="1"/>
          </p:nvPr>
        </p:nvPicPr>
        <p:blipFill>
          <a:blip r:embed="rId2"/>
          <a:stretch>
            <a:fillRect/>
          </a:stretch>
        </p:blipFill>
        <p:spPr>
          <a:xfrm>
            <a:off x="3723944" y="2753345"/>
            <a:ext cx="4744112" cy="2495898"/>
          </a:xfrm>
          <a:prstGeom prst="rect">
            <a:avLst/>
          </a:prstGeom>
        </p:spPr>
      </p:pic>
    </p:spTree>
    <p:extLst>
      <p:ext uri="{BB962C8B-B14F-4D97-AF65-F5344CB8AC3E}">
        <p14:creationId xmlns:p14="http://schemas.microsoft.com/office/powerpoint/2010/main" val="28955181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15603</TotalTime>
  <Words>578</Words>
  <Application>Microsoft Office PowerPoint</Application>
  <PresentationFormat>Widescreen</PresentationFormat>
  <Paragraphs>71</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vt:lpstr>
      <vt:lpstr>Aptos Display</vt:lpstr>
      <vt:lpstr>Arial</vt:lpstr>
      <vt:lpstr>Office Theme</vt:lpstr>
      <vt:lpstr>PowerPoint Presentation</vt:lpstr>
      <vt:lpstr>PowerPoint Presentation</vt:lpstr>
      <vt:lpstr>PowerPoint Presentation</vt:lpstr>
      <vt:lpstr>My Deal Box</vt:lpstr>
      <vt:lpstr>Basic Prep for Call w/ Owner (Vertical IQ)</vt:lpstr>
      <vt:lpstr>Matthew Smith Buyer Profile</vt:lpstr>
      <vt:lpstr>SMB Attorney Questions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Matt Smith</dc:creator>
  <cp:lastModifiedBy>Matt Smith</cp:lastModifiedBy>
  <cp:revision>3</cp:revision>
  <dcterms:created xsi:type="dcterms:W3CDTF">2026-04-03T04:49:01Z</dcterms:created>
  <dcterms:modified xsi:type="dcterms:W3CDTF">2026-04-23T01:21:49Z</dcterms:modified>
</cp:coreProperties>
</file>